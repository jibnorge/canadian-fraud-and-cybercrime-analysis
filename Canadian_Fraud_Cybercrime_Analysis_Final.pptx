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572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377440"/>
            <a:ext cx="7315200" cy="7315200"/>
          </a:xfrm>
          <a:prstGeom prst="ellipse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1554480"/>
            <a:ext cx="5669280" cy="5669280"/>
          </a:xfrm>
          <a:prstGeom prst="ellipse">
            <a:avLst/>
          </a:prstGeom>
          <a:ln w="19050">
            <a:solidFill>
              <a:srgbClr val="2B3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692640" y="-640080"/>
            <a:ext cx="3840480" cy="3840480"/>
          </a:xfrm>
          <a:prstGeom prst="ellipse">
            <a:avLst/>
          </a:prstGeom>
          <a:ln w="19050">
            <a:solidFill>
              <a:srgbClr val="2B3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61320" y="228600"/>
            <a:ext cx="2103120" cy="2103120"/>
          </a:xfrm>
          <a:prstGeom prst="ellipse">
            <a:avLst/>
          </a:prstGeom>
          <a:ln w="25400">
            <a:solidFill>
              <a:srgbClr val="E448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CANADIAN ANTI-FRAUD CENTRE  ·  2021 – 2025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89611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Canadian Fraud &amp;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Cybercrime Analysis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patterns in reported fraud, financial losses, and victim demographics across Canada 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" y="5257800"/>
            <a:ext cx="914400" cy="0"/>
          </a:xfrm>
          <a:prstGeom prst="line">
            <a:avLst/>
          </a:prstGeom>
          <a:noFill/>
          <a:ln w="38100">
            <a:solidFill>
              <a:srgbClr val="E448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350K+ reports  ·  39 fraud categories  ·  5-year span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analyzed this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78608" cy="324612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2167128"/>
            <a:ext cx="566928" cy="566928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2167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9260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fraud trends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96112" y="3657600"/>
            <a:ext cx="20665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trends and patterns in reported fraud and cybercrime cases across Canada.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874520"/>
            <a:ext cx="2578608" cy="324612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30752" y="2167128"/>
            <a:ext cx="566928" cy="566928"/>
          </a:xfrm>
          <a:prstGeom prst="ellipse">
            <a:avLst/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30752" y="2167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30752" y="29260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the data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730752" y="3657600"/>
            <a:ext cx="20665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reports by category, province, and demographic group to find where risk concentrates.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2578608" cy="324612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65392" y="2167128"/>
            <a:ext cx="566928" cy="566928"/>
          </a:xfrm>
          <a:prstGeom prst="ellipse">
            <a:avLst/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65392" y="2167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65392" y="29260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 financial impact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565392" y="3657600"/>
            <a:ext cx="20665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reported dollar losses and identify the categories and regions with the highest impact.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0" y="1874520"/>
            <a:ext cx="2578608" cy="324612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14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400032" y="2167128"/>
            <a:ext cx="566928" cy="566928"/>
          </a:xfrm>
          <a:prstGeom prst="ellipse">
            <a:avLst/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00032" y="2167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00032" y="2926080"/>
            <a:ext cx="2066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self-service exploration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400032" y="3657600"/>
            <a:ext cx="206654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visualizations and an interactive dashboard to explore fraud trends first-hand.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CAFC Open Government database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1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and cybercrime reports submitted to the Canadian Anti-Fraud Centre, published as open government data.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88757" y="2340864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1E2A52"/>
          </a:solidFill>
          <a:ln w="12700">
            <a:solidFill>
              <a:srgbClr val="2B3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88757" y="252374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350K+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425917" y="3300984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cybercrime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54917" y="2340864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1E2A52"/>
          </a:solidFill>
          <a:ln w="12700">
            <a:solidFill>
              <a:srgbClr val="2B3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54917" y="252374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2021–25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992077" y="3300984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window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2021 – Sep 2025)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21077" y="2340864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1E2A52"/>
          </a:solidFill>
          <a:ln w="12700">
            <a:solidFill>
              <a:srgbClr val="2B3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21077" y="252374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4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558237" y="3300984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fraud &amp;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categories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343400"/>
            <a:ext cx="267364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USED IN THE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88757" y="4855464"/>
            <a:ext cx="82296" cy="82296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17357" y="47183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received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17757" y="4855464"/>
            <a:ext cx="82296" cy="82296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46357" y="47183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&amp; complaint type (Victim / Attempt)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46757" y="4855464"/>
            <a:ext cx="82296" cy="82296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75357" y="471830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&amp; province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288757" y="5358384"/>
            <a:ext cx="82296" cy="82296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17357" y="522122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cybercrime thematic category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17757" y="5358384"/>
            <a:ext cx="82296" cy="82296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46357" y="522122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Solicitation method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46757" y="5358384"/>
            <a:ext cx="82296" cy="82296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75357" y="522122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&amp; victim age range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288757" y="5861304"/>
            <a:ext cx="82296" cy="82296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517357" y="572414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of correspondence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17757" y="5861304"/>
            <a:ext cx="82296" cy="82296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46357" y="572414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victims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46757" y="5861304"/>
            <a:ext cx="82296" cy="82296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75357" y="572414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loss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reports to insight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039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5328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89864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CAFC fraud &amp; cybercrime dataset (350K+ records).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2039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0" y="25328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72000" y="289864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types, rename columns, normalize country / province naming, resolve nulls, duplicates &amp; mis-tagged records.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74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75320" y="2039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4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75320" y="25328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75320" y="289864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quarterly time periods and grouped summaries for trend analysis.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4325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8680" y="48188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(EDA)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518464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distributions, top categories, and links between category, geography &amp; loss.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4160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4325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0" y="48188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72000" y="518464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static charts — bar, line, pie, stacked area — to communicate trends.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1605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75320" y="43251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75320" y="481888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275320" y="518464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filterable Dash web app so KPIs &amp; charts can be explored dynamically.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says,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E2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44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$1,500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dollar loss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(excluding $0 reports)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214884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E2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0" y="265176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0" y="3840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fraud &amp;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categories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E2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Ontario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92240" y="3840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share of reports &amp;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median loss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2148840"/>
            <a:ext cx="2606040" cy="2834640"/>
          </a:xfrm>
          <a:prstGeom prst="roundRect">
            <a:avLst>
              <a:gd name="adj" fmla="val 3158"/>
            </a:avLst>
          </a:prstGeom>
          <a:solidFill>
            <a:srgbClr val="1E2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26880" y="265176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30–39 &amp; 60–69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26880" y="384048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frequently reported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age ranges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C8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CAFC Open Government fraud &amp; cybercrime reports, 2021–2025.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Cybercrime attempts, quarter by quarter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95160" cy="475488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ibin\AppData\Local\Temp\claude\F--NPower-Canada-Project-Canadian-Fraud-And-Cybercrime-Analysis---Copy\98a7ec54-ebf8-45f9-afe2-994558a66df1\scratchpad\charts\01_cybercrime_over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94083"/>
            <a:ext cx="6355080" cy="38756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554480"/>
            <a:ext cx="3657600" cy="4754880"/>
          </a:xfrm>
          <a:prstGeom prst="roundRect">
            <a:avLst>
              <a:gd name="adj" fmla="val 1750"/>
            </a:avLst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83880" y="2240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attempts fell sharply from over 30,000 a quarter in early 2021 to under 10,000 by late 2025. The decline has leveled off since 2023, but volumes remain high enough to warrant continued monitoring.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TRENDS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leading categories, over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95160" cy="475488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ibin\AppData\Local\Temp\claude\F--NPower-Canada-Project-Canadian-Fraud-And-Cybercrime-Analysis---Copy\98a7ec54-ebf8-45f9-afe2-994558a66df1\scratchpad\charts\02_top5_categories_over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612" y="1874520"/>
            <a:ext cx="5604095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554480"/>
            <a:ext cx="3657600" cy="4754880"/>
          </a:xfrm>
          <a:prstGeom prst="roundRect">
            <a:avLst>
              <a:gd name="adj" fmla="val 1750"/>
            </a:avLst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83880" y="2240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the top five fraud categories by quarter shows which threats are accelerating fastest and which have plateaued — critical context for prioritizing awareness campaigns.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CATEGORIES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categories generate the most reports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95160" cy="475488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ibin\AppData\Local\Temp\claude\F--NPower-Canada-Project-Canadian-Fraud-And-Cybercrime-Analysis---Copy\98a7ec54-ebf8-45f9-afe2-994558a66df1\scratchpad\charts\03_top10_categ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051" y="1874520"/>
            <a:ext cx="6047218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554480"/>
            <a:ext cx="3657600" cy="4754880"/>
          </a:xfrm>
          <a:prstGeom prst="roundRect">
            <a:avLst>
              <a:gd name="adj" fmla="val 1750"/>
            </a:avLst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83880" y="2240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categories dominate report volume. Ranking them by frequency highlights where public-awareness resources have the greatest potential reach.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reports originate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95160" cy="475488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ibin\AppData\Local\Temp\claude\F--NPower-Canada-Project-Canadian-Fraud-And-Cybercrime-Analysis---Copy\98a7ec54-ebf8-45f9-afe2-994558a66df1\scratchpad\charts\00_top10_countries_provi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2277" y="1874520"/>
            <a:ext cx="5410766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554480"/>
            <a:ext cx="3657600" cy="4754880"/>
          </a:xfrm>
          <a:prstGeom prst="roundRect">
            <a:avLst>
              <a:gd name="adj" fmla="val 1750"/>
            </a:avLst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83880" y="2240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accounts for the overwhelming majority of reports, with Ontario alone contributing the largest provincial share — and a higher-than-average median dollar loss per report.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losses by category, over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95160" cy="475488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ibin\AppData\Local\Temp\claude\F--NPower-Canada-Project-Canadian-Fraud-And-Cybercrime-Analysis---Copy\98a7ec54-ebf8-45f9-afe2-994558a66df1\scratchpad\charts\04_stacked_area_dollar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81072"/>
            <a:ext cx="6355080" cy="3701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554480"/>
            <a:ext cx="3657600" cy="4754880"/>
          </a:xfrm>
          <a:prstGeom prst="roundRect">
            <a:avLst>
              <a:gd name="adj" fmla="val 1750"/>
            </a:avLst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83880" y="2240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fraud and foreign money offers drive the largest and most volatile share of reported losses, while romance fraud contributes a smaller volume but consistently high per-victim impact.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median financial loss by category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95160" cy="475488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ibin\AppData\Local\Temp\claude\F--NPower-Canada-Project-Canadian-Fraud-And-Cybercrime-Analysis---Copy\98a7ec54-ebf8-45f9-afe2-994558a66df1\scratchpad\charts\08_median_loss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27448"/>
            <a:ext cx="6355080" cy="36089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554480"/>
            <a:ext cx="3657600" cy="4754880"/>
          </a:xfrm>
          <a:prstGeom prst="roundRect">
            <a:avLst>
              <a:gd name="adj" fmla="val 1750"/>
            </a:avLst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83880" y="2240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Money Offers carries one of the highest median losses of any top category, well above the overall $1,500 median — despite a comparatively lower report volume, making it disproportionately costly per victim.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 DEMOGRAPHICS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being targeted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18608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ibin\AppData\Local\Temp\claude\F--NPower-Canada-Project-Canadian-Fraud-And-Cybercrime-Analysis---Copy\98a7ec54-ebf8-45f9-afe2-994558a66df1\scratchpad\charts\05_victim_age_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27028"/>
            <a:ext cx="4769968" cy="24953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349240"/>
            <a:ext cx="531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by victim age range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33008" y="1554480"/>
            <a:ext cx="5318608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C:\Users\jibin\AppData\Local\Temp\claude\F--NPower-Canada-Project-Canadian-Fraud-And-Cybercrime-Analysis---Copy\98a7ec54-ebf8-45f9-afe2-994558a66df1\scratchpad\charts\06_victim_age_gen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2227028"/>
            <a:ext cx="4769968" cy="24953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33008" y="5349240"/>
            <a:ext cx="531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by age range, split by gender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40080" y="5943600"/>
            <a:ext cx="10911535" cy="685800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14400" y="5943600"/>
            <a:ext cx="103628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most frequently fall in the 30–39 and 60–69 age ranges, with reporting volume and gender split varying notably between them — suggesting different fraud tactics target different life stages.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Victim vs. attempt, by solicitation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995160" cy="475488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27000" dist="381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ibin\AppData\Local\Temp\claude\F--NPower-Canada-Project-Canadian-Fraud-And-Cybercrime-Analysis---Copy\98a7ec54-ebf8-45f9-afe2-994558a66df1\scratchpad\charts\07_complaint_solici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206753"/>
            <a:ext cx="6355080" cy="34503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554480"/>
            <a:ext cx="3657600" cy="4754880"/>
          </a:xfrm>
          <a:prstGeom prst="roundRect">
            <a:avLst>
              <a:gd name="adj" fmla="val 1750"/>
            </a:avLst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183880" y="1874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83880" y="224028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confirmed "Victim" complaints against "Attempt" complaints by solicitation method reveals which outreach channels — phone, email, text, social media — most often succeed versus get caught in time.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the data first-hand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05295" y="1508760"/>
            <a:ext cx="4846320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/>
          <a:effectLst>
            <a:outerShdw blurRad="2032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C:\Users\jibin\AppData\Local\Temp\claude\F--NPower-Canada-Project-Canadian-Fraud-And-Cybercrime-Analysis---Copy\98a7ec54-ebf8-45f9-afe2-994558a66df1\scratchpad\charts\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023" y="1635738"/>
            <a:ext cx="4626864" cy="45923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554480"/>
            <a:ext cx="100584" cy="100584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43560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at a glance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16916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dollar loss (excl. $0 records), number of distinct fraud types, and total victims.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100584" cy="100584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21945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Cross-filtering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2450592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bar — category, province, gender, date range — drives every KPI and chart from one filtered dataset.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072384"/>
            <a:ext cx="100584" cy="100584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295351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Attempts over time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4400" y="3209544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attempts by category, tracked by quarter.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3831336"/>
            <a:ext cx="100584" cy="100584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71246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by category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4400" y="3968496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 chart of dollar loss by category over time.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0080" y="4590288"/>
            <a:ext cx="100584" cy="100584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447141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Provincial map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4727448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of median dollar loss by Canadian province.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5349240"/>
            <a:ext cx="100584" cy="100584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4400" y="523036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× gender view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440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AF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count plot of victim age range, split by gender.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39112"/>
            <a:ext cx="402336" cy="402336"/>
          </a:xfrm>
          <a:prstGeom prst="ellipse">
            <a:avLst/>
          </a:prstGeom>
          <a:solidFill>
            <a:srgbClr val="E448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39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9842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Losses are highly skewed by category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Money Offers carry one of the highest median dollar losses among top categories — well above the overall $1,500 median — despite lower report volume.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92240" y="2039112"/>
            <a:ext cx="402336" cy="402336"/>
          </a:xfrm>
          <a:prstGeom prst="ellipse">
            <a:avLst/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92240" y="2039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9842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Ontario leads in both volume and loss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Ontario accounts for the largest share of Canadian reports and a higher-than-average median dollar loss, making it a focal point for prevention efforts.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4096512"/>
            <a:ext cx="402336" cy="402336"/>
          </a:xfrm>
          <a:prstGeom prst="ellipse">
            <a:avLst/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096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40416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age bands drive most reports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60120" y="466344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most frequently fall in the 30–39 and 60–69 ranges, with losses and volumes varying notably by gender within each range.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2120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B21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92240" y="4096512"/>
            <a:ext cx="402336" cy="402336"/>
          </a:xfrm>
          <a:prstGeom prst="ellipse">
            <a:avLst/>
          </a:prstGeom>
          <a:solidFill>
            <a:srgbClr val="141B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92240" y="40965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40416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1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volume has declined since 2021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7960" y="4663440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attempts fell from over 30,000 to under 10,000 by late 2025, leveling off since 2023 — a trend worth continued monitoring, not a one-time read.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895600" y="2179906"/>
            <a:ext cx="6400800" cy="24981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kern="0" spc="300" dirty="0">
                <a:solidFill>
                  <a:srgbClr val="E44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979</Words>
  <Application>Microsoft Office PowerPoint</Application>
  <PresentationFormat>Widescreen</PresentationFormat>
  <Paragraphs>168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Jibin George</cp:lastModifiedBy>
  <cp:revision>4</cp:revision>
  <dcterms:created xsi:type="dcterms:W3CDTF">2026-09-10T14:25:23Z</dcterms:created>
  <dcterms:modified xsi:type="dcterms:W3CDTF">2026-09-11T14:09:28Z</dcterms:modified>
</cp:coreProperties>
</file>